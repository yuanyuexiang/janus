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B4A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2B4A"/>
                </a:solidFill>
                <a:latin typeface="Arial" panose="020B0604020202090204"/>
              </a:rPr>
              <a:t>五维能力评分 · 0~100</a:t>
            </a:r>
            <a:endParaRPr sz="1200" b="0" i="0" u="none" strike="noStrike">
              <a:solidFill>
                <a:srgbClr val="1A2B4A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传统投研</c:v>
                </c:pt>
              </c:strCache>
            </c:strRef>
          </c:tx>
          <c:spPr>
            <a:solidFill>
              <a:srgbClr val="667085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信息覆盖率</c:v>
                </c:pt>
                <c:pt idx="1">
                  <c:v>决策响应</c:v>
                </c:pt>
                <c:pt idx="2">
                  <c:v>策略胜率</c:v>
                </c:pt>
                <c:pt idx="3">
                  <c:v>回撤控制</c:v>
                </c:pt>
                <c:pt idx="4">
                  <c:v>复盘效率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50</c:v>
                </c:pt>
                <c:pt idx="2">
                  <c:v>52</c:v>
                </c:pt>
                <c:pt idx="3">
                  <c:v>60</c:v>
                </c:pt>
                <c:pt idx="4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智能体</c:v>
                </c:pt>
              </c:strCache>
            </c:strRef>
          </c:tx>
          <c:spPr>
            <a:solidFill>
              <a:srgbClr val="0E4DA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信息覆盖率</c:v>
                </c:pt>
                <c:pt idx="1">
                  <c:v>决策响应</c:v>
                </c:pt>
                <c:pt idx="2">
                  <c:v>策略胜率</c:v>
                </c:pt>
                <c:pt idx="3">
                  <c:v>回撤控制</c:v>
                </c:pt>
                <c:pt idx="4">
                  <c:v>复盘效率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</c:v>
                </c:pt>
                <c:pt idx="1">
                  <c:v>95</c:v>
                </c:pt>
                <c:pt idx="2">
                  <c:v>71</c:v>
                </c:pt>
                <c:pt idx="3">
                  <c:v>88</c:v>
                </c:pt>
                <c:pt idx="4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73eb309-f7c0-4331-a229-0d1b5f3a39e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645920"/>
            <a:ext cx="4572000" cy="4572000"/>
          </a:xfrm>
          <a:prstGeom prst="ellipse">
            <a:avLst/>
          </a:prstGeom>
          <a:solidFill>
            <a:srgbClr val="0E4DA4">
              <a:alpha val="65000"/>
            </a:srgbClr>
          </a:solidFill>
          <a:ln w="12700">
            <a:solidFill>
              <a:srgbClr val="0E4D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743200"/>
            <a:ext cx="2926080" cy="2926080"/>
          </a:xfrm>
          <a:prstGeom prst="ellipse">
            <a:avLst/>
          </a:prstGeom>
          <a:solidFill>
            <a:srgbClr val="F39800">
              <a:alpha val="45000"/>
            </a:srgbClr>
          </a:solidFill>
          <a:ln w="12700">
            <a:solidFill>
              <a:srgbClr val="F398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914400"/>
            <a:ext cx="1645920" cy="1645920"/>
          </a:xfrm>
          <a:prstGeom prst="ellipse">
            <a:avLst/>
          </a:prstGeom>
          <a:solidFill>
            <a:srgbClr val="5BB4E8">
              <a:alpha val="50000"/>
            </a:srgbClr>
          </a:solidFill>
          <a:ln w="12700">
            <a:solidFill>
              <a:srgbClr val="5BB4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EASTMONEY SECURITIES · 智投未来 AI与T0交易私享会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457200" cy="457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智能体重塑投资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</a:t>
            </a: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驱动的 AI 投研全流程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B4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从一条新闻，到一份组合 — 让大模型成为高净值投资者的「贴身投研团队」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" cy="77724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主讲 / Tom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南京 · 仁恒龙湾会所  |  2026 年 5 月 16 日(周六) 15:30 – 16:30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OPENING  |  开场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致谢东方财富,与各位共话智投未来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92608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556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一封诚意的感谢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240280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感谢南京东方财富证券</a:t>
            </a:r>
            <a:r>
              <a:rPr lang="zh-CN" alt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周倩</a:t>
            </a: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经理的盛情邀请,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让我有机会与在座的资深投资者朋友,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一同探讨 AI 智能体在投资场景的真实落地。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今天的内容,既不卖产品、也不喊口号——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只讲方法、流程,以及我们已经验证过的范式。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554480"/>
            <a:ext cx="73152" cy="91440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6459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0" y="166420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为什么是现在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0" y="20116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数据、算力、模型同步成熟,投资进入「智能体时代」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25603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2560320"/>
            <a:ext cx="73152" cy="91440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6517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86400" y="267004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全流程在哪里被改变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0" y="3017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信息→研报→选股→择时→组合,五个环节同时被重塑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35661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3566160"/>
            <a:ext cx="73152" cy="91440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3657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86400" y="367588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高净值客户能拿到什么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86400" y="40233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一支不眠不休、可定制、可解释的专属投研团队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AGENDA  |  议程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今天我们一起聊四件事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28016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777240" cy="77724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916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1920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时代拐点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28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/ 算力 / 模型 三大变量集体到位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4023360" cy="128016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737360"/>
            <a:ext cx="777240" cy="77724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920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6916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06440" y="1920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智能体投研全流程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806440" y="228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 5 个环节,看 AI 究竟做了什么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4023360" cy="128016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246120"/>
            <a:ext cx="777240" cy="77724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200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600200" y="3429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实战案例与效果对比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00200" y="37947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从一条公告到一笔交易,数据说话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663440" y="3017520"/>
            <a:ext cx="4023360" cy="128016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92040" y="3246120"/>
            <a:ext cx="777240" cy="77724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290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06440" y="3200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806440" y="3429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高净值客户的专属价值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5806440" y="37947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私密、可定制、可解释、可掌控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18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 |  时代拐点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 2026,智能投资的「奇点时刻」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685800" cy="68580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9476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06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全市场公告、研报、资讯、社媒舆情,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每天产生约 30TB 结构化+非结构化数据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783080"/>
            <a:ext cx="685800" cy="685800"/>
          </a:xfrm>
          <a:prstGeom prst="ellipse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9476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606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COMPUTE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91840" y="28346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474720" y="333756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单次大模型推理成本相比2023年下降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超过 90%,投研可大规模并发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0" y="1783080"/>
            <a:ext cx="685800" cy="68580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9476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606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26480" y="283464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309360" y="333756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等前沿大模型具备长上下文、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工具使用与可信推理能力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526280"/>
            <a:ext cx="8275320" cy="2743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526280"/>
            <a:ext cx="8275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三条曲线第一次同时到达拐点 —— 这是投资行业过去二十年最大的范式变化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18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 |  概念厘清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智能体 ≠ 聊天机器人,也 ≠ 传统量化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00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ChatGPT 1.0 时代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196596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对话即生成 · 一次性问答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" y="2267712"/>
            <a:ext cx="0" cy="274320"/>
          </a:xfrm>
          <a:prstGeom prst="line">
            <a:avLst/>
          </a:prstGeom>
          <a:noFill/>
          <a:ln w="25400">
            <a:solidFill>
              <a:srgbClr val="DCE6F2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02920" y="2651760"/>
            <a:ext cx="502920" cy="502920"/>
          </a:xfrm>
          <a:prstGeom prst="ellipse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560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传统量化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43000" y="292608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规则即程序 · 因子+回测+下单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9808" y="3227832"/>
            <a:ext cx="0" cy="274320"/>
          </a:xfrm>
          <a:prstGeom prst="line">
            <a:avLst/>
          </a:prstGeom>
          <a:noFill/>
          <a:ln w="25400">
            <a:solidFill>
              <a:srgbClr val="DCE6F2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02920" y="3611880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智能体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43000" y="388620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自主推理 + 调用工具 + 闭环执行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17720" y="1508760"/>
            <a:ext cx="4114800" cy="31546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一句话定义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智能体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是会 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思考、会工具、会负责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 AI 同事</a:t>
            </a:r>
            <a:endParaRPr lang="en-US" sz="2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9504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可推理 </a:t>
            </a:r>
            <a:r>
              <a:rPr lang="en-US" sz="11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理解模糊问题,自主拆解任务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0098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可工具 </a:t>
            </a:r>
            <a:r>
              <a:rPr lang="en-US" sz="11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调用行情、研报、回测、下单 API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12464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0640" y="3657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可记忆 </a:t>
            </a:r>
            <a:r>
              <a:rPr lang="en-US" sz="11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持续跟踪每个持仓的逻辑变化</a:t>
            </a:r>
            <a:endParaRPr lang="en-US" sz="12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23944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20640" y="4069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 </a:t>
            </a:r>
            <a:r>
              <a:rPr lang="en-US" sz="11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每一步决策都可追溯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18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全流程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智能体投研全流程 —— 五个环节,环环咬合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54480" cy="16916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69748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信息搜集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2016252" y="2404872"/>
            <a:ext cx="82296" cy="274320"/>
          </a:xfrm>
          <a:prstGeom prst="rtTriangl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691640"/>
            <a:ext cx="1554480" cy="16916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12848" y="269748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基本面研究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5400000">
            <a:off x="3662172" y="2404872"/>
            <a:ext cx="82296" cy="274320"/>
          </a:xfrm>
          <a:prstGeom prst="rtTriangl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49040" y="1691640"/>
            <a:ext cx="1554480" cy="16916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58768" y="269748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智能选股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 rot="5400000">
            <a:off x="5308092" y="2404872"/>
            <a:ext cx="82296" cy="274320"/>
          </a:xfrm>
          <a:prstGeom prst="rtTriangl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94960" y="1691640"/>
            <a:ext cx="1554480" cy="16916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920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269748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择时交易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 rot="5400000">
            <a:off x="6954012" y="2404872"/>
            <a:ext cx="82296" cy="274320"/>
          </a:xfrm>
          <a:prstGeom prst="rtTriangl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040880" y="1691640"/>
            <a:ext cx="1554480" cy="16916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92440" y="1737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</a:t>
            </a:r>
            <a:endParaRPr lang="en-US" sz="26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202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0608" y="269748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组合管理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457200" y="3657600"/>
            <a:ext cx="8275320" cy="91440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319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43000" y="3749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贯穿全流程的两条暗线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1143000" y="40690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数据回路:</a:t>
            </a:r>
            <a:r>
              <a:rPr lang="en-US" sz="11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每一笔交易反哺特征库与模型评估 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风险回路:</a:t>
            </a:r>
            <a:r>
              <a:rPr lang="en-US" sz="11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风控前置,所有环节实时校验合规与回撤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18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环节 01  ·  INFORMATION INTAKE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A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01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信息搜集 · 7×24 不眠的「信息中台」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 · 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分析师每天人工浏览 200+ 公告、50+ 研报,信息延迟、维度割裂,容易漏掉关键变化。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智能体方案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9202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智能体并行抓取 公告 / 研报 / 新闻 / 社媒,自动结构化并标注重要性。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智能体在这一环节做的事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5029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自动订阅 5,000+ A股 + 港美股的实时公告与监管披露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对中文长文与英文研报同时做要点抽取与情绪打分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多智能体协同:抓取者 / 校核者 / 摘要者分工互检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异常事件(减持、诉讼、业绩预警)秒级推送到客户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34640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889504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8×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信息覆盖宽度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31455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单分析师人工浏览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49300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493008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4787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≤30s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35387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重大事件触达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78040" y="38039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从公告披露到推送提醒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41513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151376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42062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78040" y="41970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要点抽取准确率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4622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vs 人工抽样对照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环节 02  ·  FUNDAMENTAL RESEARCH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A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02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基本面研究 · 让 AI 做你的「首席分析师」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 · 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研报阅读耗时长,关键假设、可比公司、敏感性分析分散在多份文档中,难以快速复盘。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智能体方案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9202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直接读完研报、财报、电话会议纪要,输出可解释、可质疑的研究底稿。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智能体在这一环节做的事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5029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一键阅读 100+ 页年报与卖方研报,生成结构化要点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自动核对管理层指引 vs 卖方预期 vs 历史兑现率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对关键假设做敏感性分析(收入增速、毛利率、估值)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保留所有引用与来源,让结论「可追溯到具体段落」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34640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889504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研究耗时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31455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对比传统人工撰写底稿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49300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493008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4787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35387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引用可溯源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78040" y="38039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每条结论附原文出处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41513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151376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42062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3层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78040" y="41970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推理透明度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4622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假设→推理→结论分层呈现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环节 03  ·  SMART STOCK SELECTION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A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03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智能选股 · 大模型驱动的 Alpha 发现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 · 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因子挖掘依赖经验老手,新因子上线慢、多因子之间相关性高、容易「过拟合」。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智能体方案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9202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智能体把「基本面叙事」翻译为可回测的因子组合,做出可解释的选股逻辑。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智能体在这一环节做的事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5029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用大模型把研报中的叙事性观点转为可量化的特征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在因子库中自动剔除高相关、低稳健性的「噪声因子」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结合宏观因子、行业景气、个股事件做三层筛选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输出「选股理由清单」,而非黑箱排名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34640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889504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+24%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年化超额收益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31455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智能体策略 vs 沪深300 (回测)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49300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493008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4787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0.62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35387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策略稳健性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78040" y="38039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信息比率 IR,3 年滚动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41513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151376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42062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78040" y="41970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白盒选股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4622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每只股票给出 5 条理由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环节 04  ·  TIMING &amp; EXECUTION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A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04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择时与交易 · 把 T0 信号交给智能体值守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 · 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 高频交易对反应速度、情绪克制要求极高,人工容易追涨杀跌、错失日内拐点。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智能体方案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9202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智能体在严格风控下值守日内信号,每一笔成交都有据可查、不会「上头」。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智能体在这一环节做的事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5029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实时融合 Level-2、龙虎榜、舆情与衍生品信号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对冲单边风险:股指期货 / ETF 对冲位置自动维护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硬性约束:单笔仓位、日内回撤、品种集中度全部预设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异常市场状态下自动降级到「只看不动」模式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34640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889504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≤200ms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信号→下单延迟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31455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策略机房内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49300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493008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4787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−38%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35387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日内最大回撤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78040" y="38039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对比裸多策略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41513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151376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42062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78040" y="41970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情绪化操作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4622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全程规则驱动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 |  环节 05  ·  PORTFOLIO MANAGEMENT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3840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2A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05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组合管理 · 7×24 看着每一个持仓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传统做法 · 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组合调仓滞后于事件,定期复盘容易「等到周报才发现问题」,风险暴露不可见。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智能体方案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9202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智能体把投资逻辑写进「每只股票的记忆」,一旦逻辑失效立刻提示再决策。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3464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智能体在这一环节做的事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154680"/>
            <a:ext cx="5029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为每个持仓写一份「投资逻辑卡」并持续核验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实时跟踪行业景气、估值分位、催化剂兑现进度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组合层面给出 风格 / 行业 / 因子 三维归因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高净值客户可自定义「红线」:单股仓位、回撤、ESG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34640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889504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持仓覆盖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31455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无遗漏跟踪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0" y="3493008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493008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54787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T+0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35387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异动响应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78040" y="38039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周报、月报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4151376"/>
            <a:ext cx="3063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4151376"/>
            <a:ext cx="54864" cy="59436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42062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可定制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78040" y="41970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风控红线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4622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按客户偏好配置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|  实战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智能体的一天 —— A 股交易日 9 个关键时刻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07:30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晨会前简报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汇总隔夜全球市场 + A 股相关公告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54480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3736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08:45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6459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盘前过滤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标记今日异动候选与风险事件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554480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3736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09:25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6459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集合竞价监测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识别异常竞价 + 大单分布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78608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6148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10:30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267004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盘中扫描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299008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实时跟踪新闻舆情 + 板块轮动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5786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578608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76148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11:30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267004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午间复盘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299008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上半场归因 + 下午策略校准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5786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578608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76148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13:30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267004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 信号巡航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299008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风控前置下日内增减仓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6027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02736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8561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14:55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25880" y="369417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尾盘决策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25880" y="4014216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次日预案 + 隔夜风险对冲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46120" y="36027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602736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78561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15:30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114800" y="369417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盘后总结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14800" y="4014216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 PnL 归因 + 模型自评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35040" y="36027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3602736"/>
            <a:ext cx="777240" cy="914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378561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22:00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369417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夜间扫描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03720" y="4014216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美股映射 + 隔夜事件预警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4572000"/>
            <a:ext cx="8275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✦ 整个过程,智能体始终在线;你只需在关键节点收到推送并做出确认。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|  真实案例 · 6 步 / 17 分钟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从「一条公告」到「一笔交易」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325880" cy="3200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27685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21:08 公司发布业绩超预期公告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56232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56232" y="1691640"/>
            <a:ext cx="1325880" cy="3200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56232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67712" y="2194560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227685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01952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信息核验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947672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21:09 智能体核对预告数据 + 历史兑现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55264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55264" y="1691640"/>
            <a:ext cx="1325880" cy="320040"/>
          </a:xfrm>
          <a:prstGeom prst="rect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55264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66744" y="2194560"/>
            <a:ext cx="502920" cy="502920"/>
          </a:xfrm>
          <a:prstGeom prst="ellipse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612" y="2276856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00984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影响推演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346704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21:11 模型评估对营收/估值的影响范围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54296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54296" y="1691640"/>
            <a:ext cx="1325880" cy="320040"/>
          </a:xfrm>
          <a:prstGeom prst="rect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54296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065776" y="2194560"/>
            <a:ext cx="502920" cy="502920"/>
          </a:xfrm>
          <a:prstGeom prst="ellipse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644" y="2276856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700016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可比对照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745736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21:13 调取行业可比公司估值与反应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053328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53328" y="1691640"/>
            <a:ext cx="1325880" cy="32004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053328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464808" y="219456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2276856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099048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策略生成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144768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21:18 生成增仓建议 + 风控边界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452360" y="1691640"/>
            <a:ext cx="1325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452360" y="1691640"/>
            <a:ext cx="1325880" cy="32004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452360" y="1709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6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7863840" y="219456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708" y="2276856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498080" y="27889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执行下单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7543800" y="310896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次日 09:30 按预设策略分批建仓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457200" y="4069080"/>
            <a:ext cx="8275320" cy="59436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57200" y="4069080"/>
            <a:ext cx="8275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8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次日 +6.8% / 三日 +12.3% / 周内最大回撤仅 −1.9%   |   </a:t>
            </a:r>
            <a:r>
              <a:rPr lang="en-US" sz="120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全过程留痕、可解释、可在客户端复盘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18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 |  效果对比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vs 传统投研 —— 看真实的差距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087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554480"/>
            <a:ext cx="1463040" cy="137160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0" y="1554480"/>
            <a:ext cx="1463040" cy="457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71907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+24%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60720" y="2331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年化超额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606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对沪深 300,3 年回测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269480" y="1554480"/>
            <a:ext cx="1463040" cy="137160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1554480"/>
            <a:ext cx="1463040" cy="457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171907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−38%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最大回撤改善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606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对裸多基线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0" y="3063240"/>
            <a:ext cx="1463040" cy="137160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15000" y="3063240"/>
            <a:ext cx="1463040" cy="457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22783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760720" y="3840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研究耗时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60720" y="4114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对人工撰写底稿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69480" y="3063240"/>
            <a:ext cx="1463040" cy="137160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69480" y="3063240"/>
            <a:ext cx="1463040" cy="457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322783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7×24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315200" y="3840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持续在线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15200" y="4114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全市场无遗漏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617720"/>
            <a:ext cx="8275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以上数据来源于内部回测与试点账户运行结果,过往业绩不代表未来表现。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|  专属价值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为什么高净值客户更需要 AI 智能体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5564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70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3736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Private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93852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私密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本地化部署 / 私有化部署可选,投资逻辑与持仓不出户。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75564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4708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73736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Tailored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023360" y="193852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29000" y="237744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按您的 风险偏好 / 行业禁区 / 流动性需求 一对一编排。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75564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4708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73736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Explainable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812280" y="193852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透明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17920" y="237744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每条建议都附完整推理链与原始引用,可在客户端复盘。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1089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331012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0156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29184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Co-pilot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234440" y="349300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共生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4008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不替代您决策,而是把您的隐性经验沉淀为可复用的策略。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46120" y="31089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29000" y="331012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401568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329184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Scalable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023360" y="349300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342900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随资产规模与新增策略平滑扩容,从 1 个账户到 100 个组合。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35040" y="31089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17920" y="3310128"/>
            <a:ext cx="502920" cy="502920"/>
          </a:xfrm>
          <a:prstGeom prst="ellipse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401568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12280" y="329184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24×7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812280" y="349300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陪伴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621792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夜盘、假期、海外事件都不掉线,真正的「贴身投顾」。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18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|  风险边界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智能体的「能」与「不能」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F4F8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373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智能体擅长做的事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重复性的信息搜集 / 摘要 / 核对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在规则与边界内的策略执行与下单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把您的投资逻辑数字化、可复用化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提供可解释、可追溯的决策依据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情绪稳定,严格守住止损止盈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4023360" cy="310896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373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智能体不会替代您的事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37760" y="2331720"/>
            <a:ext cx="36576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CE6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对未来收益给出「保证」或「承诺」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CE6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替您决定愿意承受多大风险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CE6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脱离合规框架进行任何创新交易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CE6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在极端事件下取代人的最终判断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CE6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无监督运行 —— 关键节点仍需人确认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18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 |  落地路径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 —— 让智能体真正为您工作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777240"/>
          </a:xfrm>
          <a:prstGeom prst="rect">
            <a:avLst/>
          </a:prstGeom>
          <a:solidFill>
            <a:srgbClr val="1B7CD9"/>
          </a:solidFill>
          <a:ln w="12700">
            <a:solidFill>
              <a:srgbClr val="1B7C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19072"/>
            <a:ext cx="457200" cy="45720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830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6733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20" y="1901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诊断与共识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23317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梳理您的投资目标 / 风险偏好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锁定 3~5 个最痛的投研环节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约定可量化的成功指标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554480"/>
            <a:ext cx="2697480" cy="777240"/>
          </a:xfrm>
          <a:prstGeom prst="rect">
            <a:avLst/>
          </a:prstGeom>
          <a:solidFill>
            <a:srgbClr val="0E4DA4"/>
          </a:solidFill>
          <a:ln w="12700">
            <a:solidFill>
              <a:srgbClr val="0E4D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719072"/>
            <a:ext cx="457200" cy="45720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78308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6733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23360" y="1901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试点与共建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520440" y="2514600"/>
            <a:ext cx="23317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 1 个组合 / 1 个策略做先行试点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+ 您的经验做双轨并行 4~6 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每周对账,持续校准提示词与规则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26480" y="15544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1554480"/>
            <a:ext cx="2697480" cy="77724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1719072"/>
            <a:ext cx="457200" cy="457200"/>
          </a:xfrm>
          <a:prstGeom prst="ellipse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78308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16733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858000" y="1901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扩展与守正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355080" y="2514600"/>
            <a:ext cx="23317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扩展至更多账户 / 策略 / 海外资产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建立「人审 + 智能体执行」的常态机制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把成功经验沉淀为客户专属知识库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4572000"/>
            <a:ext cx="8275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E4DA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典型节奏:1 周诊断  →  4~6 周试点  →  6~12 周规模化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18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东方财富证券 · 智投未来私享会  |  2026.05.16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4DA4">
              <a:alpha val="50000"/>
            </a:srgbClr>
          </a:solidFill>
          <a:ln w="12700">
            <a:solidFill>
              <a:srgbClr val="0E4D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F39800">
              <a:alpha val="35000"/>
            </a:srgbClr>
          </a:solidFill>
          <a:ln w="12700">
            <a:solidFill>
              <a:srgbClr val="F3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" cy="54864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0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真正成为您的「贴身投研团队」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感谢东方财富证券与各位嘉宾的聆听 ——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欢迎在自由交流环节与餐叙时段继续探讨。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54864" cy="502920"/>
          </a:xfrm>
          <a:prstGeom prst="rect">
            <a:avLst/>
          </a:prstGeom>
          <a:solidFill>
            <a:srgbClr val="F39800"/>
          </a:solidFill>
          <a:ln w="12700">
            <a:solidFill>
              <a:srgbClr val="F3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5196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Tom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B9C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tom.nanjing@gmail.com  ·  南京 · 2026.05.16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4820</Words>
  <Application>WPS 演示</Application>
  <PresentationFormat>On-screen Show (16:9)</PresentationFormat>
  <Paragraphs>645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受东方财富证券邀请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智投未来 - AI智能体投研全流程</dc:title>
  <dc:creator>Tom</dc:creator>
  <dc:subject>PptxGenJS Presentation</dc:subject>
  <cp:lastModifiedBy>TOM</cp:lastModifiedBy>
  <cp:revision>2</cp:revision>
  <dcterms:created xsi:type="dcterms:W3CDTF">2026-05-13T12:24:42Z</dcterms:created>
  <dcterms:modified xsi:type="dcterms:W3CDTF">2026-05-13T12:24:42Z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6BBE0E8F55C851648A6D046A3CD84403_42</vt:lpwstr>
  </property>
</Properties>
</file>